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0" y="617220"/>
            <a:ext cx="548640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Nuqta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828800" y="1131570"/>
            <a:ext cx="5486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</a:rPr>
              <a:t>Search. Save. Earn.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371600" y="1491615"/>
            <a:ext cx="6400800" cy="514350"/>
          </a:xfrm>
          <a:prstGeom prst="rect">
            <a:avLst/>
          </a:prstGeom>
          <a:solidFill>
            <a:srgbClr val="C9A227">
              <a:alpha val="8000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154305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</a:rPr>
              <a:t>10% Offline Cashback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1851660"/>
            <a:ext cx="64008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5× vs Cards  •  Instant  •  No Credit Check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97280" y="2366010"/>
            <a:ext cx="3108960" cy="668655"/>
          </a:xfrm>
          <a:prstGeom prst="rect">
            <a:avLst/>
          </a:prstGeom>
          <a:solidFill>
            <a:srgbClr val="1E293B">
              <a:alpha val="20000"/>
            </a:srgbClr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417445"/>
            <a:ext cx="3108960" cy="565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Raise
</a:t>
            </a:r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</a:rPr>
              <a:t>$500K
</a:t>
            </a:r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Pre-Seed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937760" y="2366010"/>
            <a:ext cx="3108960" cy="668655"/>
          </a:xfrm>
          <a:prstGeom prst="rect">
            <a:avLst/>
          </a:prstGeom>
          <a:solidFill>
            <a:srgbClr val="1E293B">
              <a:alpha val="20000"/>
            </a:srgbClr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417445"/>
            <a:ext cx="3108960" cy="565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TAM
</a:t>
            </a:r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</a:rPr>
              <a:t>$150B
</a:t>
            </a:r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GCC Market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097280" y="3188970"/>
            <a:ext cx="3108960" cy="668655"/>
          </a:xfrm>
          <a:prstGeom prst="rect">
            <a:avLst/>
          </a:prstGeom>
          <a:solidFill>
            <a:srgbClr val="1E293B">
              <a:alpha val="20000"/>
            </a:srgbClr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240405"/>
            <a:ext cx="3108960" cy="565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↓ CAC
</a:t>
            </a:r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</a:rPr>
              <a:t>75-85%
</a:t>
            </a:r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Merchant Savings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937760" y="3188970"/>
            <a:ext cx="3108960" cy="668655"/>
          </a:xfrm>
          <a:prstGeom prst="rect">
            <a:avLst/>
          </a:prstGeom>
          <a:solidFill>
            <a:srgbClr val="1E293B">
              <a:alpha val="20000"/>
            </a:srgbClr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3240405"/>
            <a:ext cx="3108960" cy="5657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</a:rPr>
              <a:t>2026
</a:t>
            </a:r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</a:rPr>
              <a:t>Q1
</a:t>
            </a:r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Launch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71600" y="4114800"/>
            <a:ext cx="64008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227"/>
                </a:solidFill>
              </a:rPr>
              <a:t>Rewards-Led Commerce Intelligence Platform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71600" y="4474845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📧 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rejaul@nuqtaapp.com
</a:t>
            </a:r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📍 </a:t>
            </a:r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Dubai, UAE  •  </a:t>
            </a:r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Available 24/7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8229600" cy="257175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14400" y="565785"/>
            <a:ext cx="7315200" cy="411480"/>
          </a:xfrm>
          <a:prstGeom prst="rect">
            <a:avLst/>
          </a:prstGeom>
          <a:solidFill>
            <a:srgbClr val="EF4444">
              <a:alpha val="90000"/>
            </a:srgbClr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617220"/>
            <a:ext cx="73152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F4444"/>
                </a:solidFill>
              </a:rPr>
              <a:t>AED 2.4B Wasted Annually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1080135"/>
            <a:ext cx="7315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UAE shoppers lose AED 684 per person yearly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440180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User Pain Points: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748790"/>
            <a:ext cx="7315200" cy="462915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00225"/>
            <a:ext cx="6949440" cy="3600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</a:rPr>
              <a:t>73% </a:t>
            </a:r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Overpay for products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No real-time price comparison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2263140"/>
            <a:ext cx="7315200" cy="462915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314575"/>
            <a:ext cx="6949440" cy="3600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</a:rPr>
              <a:t>63% </a:t>
            </a:r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Rewards unclaimed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Too complex to redeem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2777490"/>
            <a:ext cx="7315200" cy="462915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828925"/>
            <a:ext cx="6949440" cy="3600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</a:rPr>
              <a:t>80% </a:t>
            </a:r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No comparison tools
</a:t>
            </a:r>
            <a:pPr algn="ctr" indent="0" marL="0">
              <a:buNone/>
            </a:pPr>
            <a:r>
              <a:rPr lang="en-US" sz="700" i="1" dirty="0">
                <a:solidFill>
                  <a:srgbClr val="64748B"/>
                </a:solidFill>
              </a:rPr>
              <a:t>Rely on Google searches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3394710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Merchant Pain: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651885"/>
            <a:ext cx="7315200" cy="514350"/>
          </a:xfrm>
          <a:prstGeom prst="rect">
            <a:avLst/>
          </a:prstGeom>
          <a:solidFill>
            <a:srgbClr val="F97316">
              <a:alpha val="90000"/>
            </a:srgbClr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70332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</a:rPr>
              <a:t>-30% Margin Impact
</a:t>
            </a:r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CAC crisis eating profitability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320540"/>
            <a:ext cx="7315200" cy="51435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371975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💸 Zero ROI Visibility
</a:t>
            </a:r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</a:rPr>
              <a:t>Merchants spend blindly on Google Ads &amp; Meta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8229600" cy="257175"/>
          </a:xfrm>
          <a:prstGeom prst="rect">
            <a:avLst/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MARKET &amp; INVESTMENT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5785"/>
            <a:ext cx="82296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</a:rPr>
              <a:t>$150B GCC Market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925830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TAM: </a:t>
            </a:r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$150B </a:t>
            </a:r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GCC Offline Retail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1157288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SAM: </a:t>
            </a:r>
            <a:pPr algn="l" indent="0" marL="0">
              <a:buNone/>
            </a:pPr>
            <a:r>
              <a:rPr lang="en-US" sz="1000" b="1" dirty="0">
                <a:solidFill>
                  <a:srgbClr val="A855F7"/>
                </a:solidFill>
              </a:rPr>
              <a:t>$85B </a:t>
            </a:r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UAE + KSA Focus Markets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88745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4155"/>
                </a:solidFill>
              </a:rPr>
              <a:t>SOM: </a:t>
            </a:r>
            <a:pPr algn="l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$8.5B </a:t>
            </a:r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Year 1-3 Target (10%)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748790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Go-to-Market Phases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005965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227"/>
                </a:solidFill>
              </a:rPr>
              <a:t>Q1 2026: </a:t>
            </a:r>
            <a:pPr algn="l" indent="0" marL="0">
              <a:buNone/>
            </a:pPr>
            <a:r>
              <a:rPr lang="en-US" sz="700" b="1" dirty="0">
                <a:solidFill>
                  <a:srgbClr val="334155"/>
                </a:solidFill>
              </a:rPr>
              <a:t>Dubai Mall Pilot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(10 merchants, 1K users)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185988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227"/>
                </a:solidFill>
              </a:rPr>
              <a:t>Q2 2026: </a:t>
            </a:r>
            <a:pPr algn="l" indent="0" marL="0">
              <a:buNone/>
            </a:pPr>
            <a:r>
              <a:rPr lang="en-US" sz="700" b="1" dirty="0">
                <a:solidFill>
                  <a:srgbClr val="334155"/>
                </a:solidFill>
              </a:rPr>
              <a:t>Dubai Expansion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(50 merchants, 5K users)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2366010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227"/>
                </a:solidFill>
              </a:rPr>
              <a:t>Q3 2026: </a:t>
            </a:r>
            <a:pPr algn="l" indent="0" marL="0">
              <a:buNone/>
            </a:pPr>
            <a:r>
              <a:rPr lang="en-US" sz="700" b="1" dirty="0">
                <a:solidFill>
                  <a:srgbClr val="334155"/>
                </a:solidFill>
              </a:rPr>
              <a:t>UAE-wide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(200 merchants, 20K users)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2546033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A227"/>
                </a:solidFill>
              </a:rPr>
              <a:t>Q4 2026: </a:t>
            </a:r>
            <a:pPr algn="l" indent="0" marL="0">
              <a:buNone/>
            </a:pPr>
            <a:r>
              <a:rPr lang="en-US" sz="700" b="1" dirty="0">
                <a:solidFill>
                  <a:srgbClr val="334155"/>
                </a:solidFill>
              </a:rPr>
              <a:t>GCC Launch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(KSA + regional expansion)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2777490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Competitive Landscape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034665"/>
          <a:ext cx="7680960" cy="72009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1800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C9A227"/>
                          </a:solidFill>
                        </a:rPr>
                        <a:t>Nuqta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64748B"/>
                          </a:solidFill>
                        </a:rPr>
                        <a:t>Cards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64748B"/>
                          </a:solidFill>
                        </a:rPr>
                        <a:t>Smiles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00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</a:rPr>
                        <a:t>Offline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C55E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</a:rPr>
                        <a:t>×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</a:rPr>
                        <a:t>×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00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</a:rPr>
                        <a:t>Universal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C55E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</a:rPr>
                        <a:t>×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C55E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00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</a:rPr>
                        <a:t>Cashback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C9A227"/>
                          </a:solidFill>
                        </a:rPr>
                        <a:t>10%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64748B"/>
                          </a:solidFill>
                        </a:rPr>
                        <a:t>2%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64748B"/>
                          </a:solidFill>
                        </a:rPr>
                        <a:t>Points</a:t>
                      </a:r>
                      <a:endParaRPr lang="en-US" sz="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3857625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A1628"/>
                </a:solidFill>
              </a:rPr>
              <a:t>Use of Funds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1520" y="4063365"/>
            <a:ext cx="76809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B82F6"/>
                </a:solidFill>
              </a:rPr>
              <a:t>40% </a:t>
            </a:r>
            <a:pPr algn="l" indent="0" marL="0">
              <a:buNone/>
            </a:pPr>
            <a:r>
              <a:rPr lang="en-US" sz="700" dirty="0">
                <a:solidFill>
                  <a:srgbClr val="334155"/>
                </a:solidFill>
              </a:rPr>
              <a:t>Product &amp; Tech </a:t>
            </a:r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</a:rPr>
              <a:t>($200K)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1520" y="4217670"/>
            <a:ext cx="76809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35% </a:t>
            </a:r>
            <a:pPr algn="l" indent="0" marL="0">
              <a:buNone/>
            </a:pPr>
            <a:r>
              <a:rPr lang="en-US" sz="700" dirty="0">
                <a:solidFill>
                  <a:srgbClr val="334155"/>
                </a:solidFill>
              </a:rPr>
              <a:t>Marketing &amp; Growth </a:t>
            </a:r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</a:rPr>
              <a:t>($175K)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31520" y="4371975"/>
            <a:ext cx="76809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A855F7"/>
                </a:solidFill>
              </a:rPr>
              <a:t>25% </a:t>
            </a:r>
            <a:pPr algn="l" indent="0" marL="0">
              <a:buNone/>
            </a:pPr>
            <a:r>
              <a:rPr lang="en-US" sz="700" dirty="0">
                <a:solidFill>
                  <a:srgbClr val="334155"/>
                </a:solidFill>
              </a:rPr>
              <a:t>Operations &amp; Legal </a:t>
            </a:r>
            <a:pPr algn="l" indent="0" marL="0">
              <a:buNone/>
            </a:pPr>
            <a:r>
              <a:rPr lang="en-US" sz="600" dirty="0">
                <a:solidFill>
                  <a:srgbClr val="64748B"/>
                </a:solidFill>
              </a:rPr>
              <a:t>($125K)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731520" y="4629150"/>
            <a:ext cx="7680960" cy="41148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680585"/>
            <a:ext cx="768096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A227"/>
                </a:solidFill>
              </a:rPr>
              <a:t>THE ASK: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$500K Pre-Seed </a:t>
            </a:r>
            <a:pPr algn="ctr"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• SAFE • $6M Cap • 20% Discount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0" y="411480"/>
            <a:ext cx="5486400" cy="308610"/>
          </a:xfrm>
          <a:prstGeom prst="rect">
            <a:avLst/>
          </a:prstGeom>
          <a:solidFill>
            <a:srgbClr val="A855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925830"/>
            <a:ext cx="7315200" cy="3600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55F7"/>
                </a:solidFill>
              </a:rPr>
              <a:t>Perfect Timing Window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📱 98% smartphone penetration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71600" y="210883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💳 Tap-to-pay everywhere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2571750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💰 CAC crisis for merchants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71600" y="3034665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🏆 UAE: Affluent early adopters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3497580"/>
            <a:ext cx="640080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⚡ 12-18mo first-mover advantage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4217670"/>
            <a:ext cx="6400800" cy="411480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Launch: Q1 2026 (30 days)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8229600" cy="257175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5785"/>
            <a:ext cx="8229600" cy="2571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</a:rPr>
              <a:t>10% Instant Cashback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5× more than credit cards, no credit 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1080135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3-Step User Journey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1337310"/>
            <a:ext cx="731520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388745"/>
            <a:ext cx="694944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A227"/>
                </a:solidFill>
              </a:rPr>
              <a:t>1. Search: </a:t>
            </a:r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Compare prices across stores nearby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697355"/>
            <a:ext cx="731520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748790"/>
            <a:ext cx="694944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A227"/>
                </a:solidFill>
              </a:rPr>
              <a:t>2. Shop: </a:t>
            </a:r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Buy offline, show QR at checkout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2057400"/>
            <a:ext cx="7315200" cy="308610"/>
          </a:xfrm>
          <a:prstGeom prst="rect">
            <a:avLst/>
          </a:prstGeom>
          <a:solidFill>
            <a:srgbClr val="FFFFFF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108835"/>
            <a:ext cx="694944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A227"/>
                </a:solidFill>
              </a:rPr>
              <a:t>3. Earn: </a:t>
            </a:r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Get 10% cashback instantly deposited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520315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Revenue Split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2726055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Merchant pays 10% commission: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097280" y="2931795"/>
            <a:ext cx="694944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B82F6"/>
                </a:solidFill>
              </a:rPr>
              <a:t>5% </a:t>
            </a:r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User Cashback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" y="3137535"/>
            <a:ext cx="694944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855F7"/>
                </a:solidFill>
              </a:rPr>
              <a:t>5% </a:t>
            </a:r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Social Referral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97280" y="3343275"/>
            <a:ext cx="694944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5% </a:t>
            </a:r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</a:rPr>
              <a:t>Nuqta Revenue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651885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Dual Coin System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4400" y="3909060"/>
            <a:ext cx="3474720" cy="411480"/>
          </a:xfrm>
          <a:prstGeom prst="rect">
            <a:avLst/>
          </a:prstGeom>
          <a:solidFill>
            <a:srgbClr val="C9A227">
              <a:alpha val="90000"/>
            </a:srgbClr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60495"/>
            <a:ext cx="329184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A227"/>
                </a:solidFill>
              </a:rPr>
              <a:t>🪙 Gold Coins
</a:t>
            </a:r>
            <a:pPr algn="ctr" indent="0" marL="0">
              <a:buNone/>
            </a:pPr>
            <a:r>
              <a:rPr lang="en-US" sz="600" dirty="0">
                <a:solidFill>
                  <a:srgbClr val="334155"/>
                </a:solidFill>
              </a:rPr>
              <a:t>Universal, any merchant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54880" y="3909060"/>
            <a:ext cx="3474720" cy="411480"/>
          </a:xfrm>
          <a:prstGeom prst="rect">
            <a:avLst/>
          </a:prstGeom>
          <a:solidFill>
            <a:srgbClr val="A855F7">
              <a:alpha val="90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960495"/>
            <a:ext cx="3291840" cy="3086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55F7"/>
                </a:solidFill>
              </a:rPr>
              <a:t>💎 Merchant Coins
</a:t>
            </a:r>
            <a:pPr algn="ctr" indent="0" marL="0">
              <a:buNone/>
            </a:pPr>
            <a:r>
              <a:rPr lang="en-US" sz="600" dirty="0">
                <a:solidFill>
                  <a:srgbClr val="334155"/>
                </a:solidFill>
              </a:rPr>
              <a:t>Brand-specific loyalty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" y="4423410"/>
            <a:ext cx="768096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A1628"/>
                </a:solidFill>
              </a:rPr>
              <a:t>12-Month Projections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4629150"/>
            <a:ext cx="7315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B82F6"/>
                </a:solidFill>
              </a:rPr>
              <a:t>10K users </a:t>
            </a:r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• </a:t>
            </a:r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</a:rPr>
              <a:t>AED 9M GMV </a:t>
            </a:r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• </a:t>
            </a:r>
            <a:pPr algn="ctr" indent="0" marL="0">
              <a:buNone/>
            </a:pPr>
            <a:r>
              <a:rPr lang="en-US" sz="700" b="1" dirty="0">
                <a:solidFill>
                  <a:srgbClr val="22C55E"/>
                </a:solidFill>
              </a:rPr>
              <a:t>AED 450K Revenue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8229600" cy="257175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TRACTION &amp;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65785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Current Traction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C55E"/>
                </a:solidFill>
              </a:rPr>
              <a:t>✓ </a:t>
            </a:r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30+ Signed LOIs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— Electronics, fashion, F&amp;B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102870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C55E"/>
                </a:solidFill>
              </a:rPr>
              <a:t>✓ </a:t>
            </a:r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60+ Pipeline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— Active merchant discussions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23444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C55E"/>
                </a:solidFill>
              </a:rPr>
              <a:t>✓ </a:t>
            </a:r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95% MVP Complete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— Live in 30 days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44018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2C55E"/>
                </a:solidFill>
              </a:rPr>
              <a:t>✓ </a:t>
            </a:r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</a:rPr>
              <a:t>Merchant NPS: 92 </a:t>
            </a:r>
            <a:pPr algn="l" indent="0" marL="0">
              <a:buNone/>
            </a:pPr>
            <a:r>
              <a:rPr lang="en-US" sz="600" i="1" dirty="0">
                <a:solidFill>
                  <a:srgbClr val="64748B"/>
                </a:solidFill>
              </a:rPr>
              <a:t>— "Game-changer for our CAC"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748790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Founder &amp; Team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2005965"/>
            <a:ext cx="7315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57400"/>
            <a:ext cx="694944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Rejaul Karim </a:t>
            </a:r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— Founder &amp; CEO
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2263140"/>
            <a:ext cx="67665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334155"/>
                </a:solidFill>
              </a:rPr>
              <a:t>• 10+ years building tech &amp; commerce platforms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1188720" y="2391728"/>
            <a:ext cx="67665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334155"/>
                </a:solidFill>
              </a:rPr>
              <a:t>• Scaled ecommerce products to 500K+ users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188720" y="2520315"/>
            <a:ext cx="67665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334155"/>
                </a:solidFill>
              </a:rPr>
              <a:t>• Deep GCC market expertise &amp; merchant network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188720" y="2648903"/>
            <a:ext cx="6766560" cy="128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334155"/>
                </a:solidFill>
              </a:rPr>
              <a:t>• Technical founder (full-stack + AI/ML)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731520" y="2931795"/>
            <a:ext cx="768096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A1628"/>
                </a:solidFill>
              </a:rPr>
              <a:t>4 Competitive Moats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18897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1628"/>
                </a:solidFill>
              </a:rPr>
              <a:t>🌐 Network Effects: </a:t>
            </a:r>
            <a:pPr algn="l" indent="0" marL="0">
              <a:buNone/>
            </a:pPr>
            <a:r>
              <a:rPr lang="en-US" sz="600" dirty="0">
                <a:solidFill>
                  <a:srgbClr val="475569"/>
                </a:solidFill>
              </a:rPr>
              <a:t>More users → more merchants → more users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914400" y="339471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1628"/>
                </a:solidFill>
              </a:rPr>
              <a:t>📊 Data Moat: </a:t>
            </a:r>
            <a:pPr algn="l" indent="0" marL="0">
              <a:buNone/>
            </a:pPr>
            <a:r>
              <a:rPr lang="en-US" sz="600" dirty="0">
                <a:solidFill>
                  <a:srgbClr val="475569"/>
                </a:solidFill>
              </a:rPr>
              <a:t>Price &amp; behavior data = competitive intelligence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914400" y="360045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1628"/>
                </a:solidFill>
              </a:rPr>
              <a:t>⚡ First-Mover: </a:t>
            </a:r>
            <a:pPr algn="l" indent="0" marL="0">
              <a:buNone/>
            </a:pPr>
            <a:r>
              <a:rPr lang="en-US" sz="600" dirty="0">
                <a:solidFill>
                  <a:srgbClr val="475569"/>
                </a:solidFill>
              </a:rPr>
              <a:t>12-18 month head start in GCC market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914400" y="3806190"/>
            <a:ext cx="7315200" cy="154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1628"/>
                </a:solidFill>
              </a:rPr>
              <a:t>🔒 Merchant Lock-In: </a:t>
            </a:r>
            <a:pPr algn="l" indent="0" marL="0">
              <a:buNone/>
            </a:pPr>
            <a:r>
              <a:rPr lang="en-US" sz="600" dirty="0">
                <a:solidFill>
                  <a:srgbClr val="475569"/>
                </a:solidFill>
              </a:rPr>
              <a:t>Direct checkout integration = switching costs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31520" y="4320540"/>
            <a:ext cx="7680960" cy="61722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1975"/>
            <a:ext cx="7680960" cy="5143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227"/>
                </a:solidFill>
              </a:rPr>
              <a:t>Let's Talk
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rejaul@nuqtaapp.com
</a:t>
            </a:r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Dubai, UAE • Available 24/7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Nuqta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Nuqta: Investor One-Pager - $500K Pre-Seed</dc:title>
  <dc:subject>Nuqta Investor One-Pager</dc:subject>
  <dc:creator>Rejaul Karim</dc:creator>
  <cp:lastModifiedBy>Rejaul Karim</cp:lastModifiedBy>
  <cp:revision>1</cp:revision>
  <dcterms:created xsi:type="dcterms:W3CDTF">2026-01-28T09:52:41Z</dcterms:created>
  <dcterms:modified xsi:type="dcterms:W3CDTF">2026-01-28T09:52:41Z</dcterms:modified>
</cp:coreProperties>
</file>