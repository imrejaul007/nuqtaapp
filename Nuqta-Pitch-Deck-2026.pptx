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28800" y="1285875"/>
            <a:ext cx="5486400" cy="7715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Nuqta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828800" y="216027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227"/>
                </a:solidFill>
              </a:rPr>
              <a:t>Rewards-Led Commerce Intelligence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0" y="2828925"/>
            <a:ext cx="54864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$150B GCC TAM • 10% Offline Cashback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28800" y="3137535"/>
            <a:ext cx="54864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30+ Signed LOIs • 18x LTV:CAC Ratio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828800" y="3446145"/>
            <a:ext cx="54864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Q1 2026 Launch • Raising $500K Pre-Seed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828800" y="4371975"/>
            <a:ext cx="54864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rejaul@nuqtaapp.com | Dubai, UAE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The $2.4B UAE Shopping Crisis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UAE shoppers waste AED 2.4B annually on suboptimal purchase decisions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571750"/>
            <a:ext cx="1828800" cy="1285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❌
</a:t>
            </a:r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</a:rPr>
              <a:t>No Price Discovery
</a:t>
            </a:r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</a:rPr>
              <a:t>73% overpay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108960" y="2571750"/>
            <a:ext cx="1828800" cy="1285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🎁
</a:t>
            </a:r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</a:rPr>
              <a:t>Scattered Rewards
</a:t>
            </a:r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</a:rPr>
              <a:t>63% unclaimed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120640" y="2571750"/>
            <a:ext cx="1828800" cy="1285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⏱️
</a:t>
            </a:r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</a:rPr>
              <a:t>Time Wasted
</a:t>
            </a:r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</a:rPr>
              <a:t>8hrs/month searching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132320" y="2571750"/>
            <a:ext cx="1828800" cy="1285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💔
</a:t>
            </a:r>
            <a:pPr algn="ctr" indent="0" marL="0">
              <a:buNone/>
            </a:pPr>
            <a:r>
              <a:rPr lang="en-US" sz="1800" b="1" dirty="0">
                <a:solidFill>
                  <a:srgbClr val="0A1628"/>
                </a:solidFill>
              </a:rPr>
              <a:t>Zero ROI
</a:t>
            </a:r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</a:rPr>
              <a:t>Merchants see no returns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286000" y="4217670"/>
            <a:ext cx="4572000" cy="30861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AED 684 lost per shopper annually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USER PAIN POINTS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The Offline Shopping Nightmare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Every shopping trip is a frustrating, inefficient experience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828800" y="2314575"/>
            <a:ext cx="54864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A1628"/>
                </a:solidFill>
              </a:rPr>
              <a:t>Before Shopping
</a:t>
            </a:r>
            <a:pPr algn="l" indent="0" marL="0">
              <a:buNone/>
            </a:pPr>
            <a:r>
              <a:rPr lang="en-US" sz="1600" i="1" dirty="0">
                <a:solidFill>
                  <a:srgbClr val="EF4444"/>
                </a:solidFill>
              </a:rPr>
              <a:t>Where should I go?
</a:t>
            </a:r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No way to compare prices across stores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2931795"/>
            <a:ext cx="54864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A1628"/>
                </a:solidFill>
              </a:rPr>
              <a:t>During Shopping
</a:t>
            </a:r>
            <a:pPr algn="l" indent="0" marL="0">
              <a:buNone/>
            </a:pPr>
            <a:r>
              <a:rPr lang="en-US" sz="1600" i="1" dirty="0">
                <a:solidFill>
                  <a:srgbClr val="EF4444"/>
                </a:solidFill>
              </a:rPr>
              <a:t>Is this the best deal?
</a:t>
            </a:r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Missing better offers nearby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3549015"/>
            <a:ext cx="54864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A1628"/>
                </a:solidFill>
              </a:rPr>
              <a:t>After Shopping
</a:t>
            </a:r>
            <a:pPr algn="l" indent="0" marL="0">
              <a:buNone/>
            </a:pPr>
            <a:r>
              <a:rPr lang="en-US" sz="1600" i="1" dirty="0">
                <a:solidFill>
                  <a:srgbClr val="EF4444"/>
                </a:solidFill>
              </a:rPr>
              <a:t>Did I get value?
</a:t>
            </a:r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Rewards points expire unused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MERCHANT PAIN POINTS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The Acquisition Cost Crisis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Traditional channels are bleeding merchant margins dry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314575"/>
            <a:ext cx="32004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</a:rPr>
              <a:t>Traditional Marketing P&amp;L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674620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Revenue: AED 100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906077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Google Ads: -AED 25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137535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Meta Ads: -AED 20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3368993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Influencers: -AED 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600450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Loyalty: -AED 10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831908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Net Margin: AED 30 (30%)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0" y="2314575"/>
            <a:ext cx="32004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</a:rPr>
              <a:t>With Nuqta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2674620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Revenue: AED 100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906077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Nuqta: -AED 10 (10% cashback)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3137535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Zero Google/Meta spend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3368993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Zero influencer fees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3600450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Net Margin: AED 90 (90%)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831908"/>
            <a:ext cx="3200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 3x better margins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MARKET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$150B GCC Opportunity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Massive TAM in a high-value, digitally-savvy market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828800" y="2571750"/>
            <a:ext cx="54864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</a:rPr>
              <a:t>TAM: GCC Offline Retail
</a:t>
            </a:r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</a:rPr>
              <a:t>$150B </a:t>
            </a:r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(100%)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28800" y="3188970"/>
            <a:ext cx="54864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</a:rPr>
              <a:t>SAM: UAE + Saudi Arabia
</a:t>
            </a:r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</a:rPr>
              <a:t>$85B </a:t>
            </a:r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(57%)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28800" y="3806190"/>
            <a:ext cx="54864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</a:rPr>
              <a:t>SOM: Target Segments Y1-3
</a:t>
            </a:r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</a:rPr>
              <a:t>$8.5B </a:t>
            </a:r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(10% of SAM)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PERFECT TIMING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Why Now? The 12-18 Month Window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5 converging trends create a unique market opportunity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231457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📱  </a:t>
            </a:r>
            <a:pPr algn="l" indent="0" marL="0">
              <a:buNone/>
            </a:pPr>
            <a:r>
              <a:rPr lang="en-US" sz="1400" b="1" dirty="0">
                <a:solidFill>
                  <a:srgbClr val="0A1628"/>
                </a:solidFill>
              </a:rPr>
              <a:t>Digital-First Consumers: 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98% UAE smartphone penetration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674620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💳  </a:t>
            </a:r>
            <a:pPr algn="l" indent="0" marL="0">
              <a:buNone/>
            </a:pPr>
            <a:r>
              <a:rPr lang="en-US" sz="1400" b="1" dirty="0">
                <a:solidFill>
                  <a:srgbClr val="0A1628"/>
                </a:solidFill>
              </a:rPr>
              <a:t>Tech Readiness: 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Tap-to-pay infrastructure everywhere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303466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  </a:t>
            </a:r>
            <a:pPr algn="l" indent="0" marL="0">
              <a:buNone/>
            </a:pPr>
            <a:r>
              <a:rPr lang="en-US" sz="1400" b="1" dirty="0">
                <a:solidFill>
                  <a:srgbClr val="0A1628"/>
                </a:solidFill>
              </a:rPr>
              <a:t>SMB Pain: 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CAC crisis forcing merchant exploration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3394710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🏆  </a:t>
            </a:r>
            <a:pPr algn="l" indent="0" marL="0">
              <a:buNone/>
            </a:pPr>
            <a:r>
              <a:rPr lang="en-US" sz="1400" b="1" dirty="0">
                <a:solidFill>
                  <a:srgbClr val="0A1628"/>
                </a:solidFill>
              </a:rPr>
              <a:t>UAE Launch Market: 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Affluent, early adopters, English-speaking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375475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  </a:t>
            </a:r>
            <a:pPr algn="l" indent="0" marL="0">
              <a:buNone/>
            </a:pPr>
            <a:r>
              <a:rPr lang="en-US" sz="1400" b="1" dirty="0">
                <a:solidFill>
                  <a:srgbClr val="0A1628"/>
                </a:solidFill>
              </a:rPr>
              <a:t>First-Mover Advantage: </a:t>
            </a:r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No direct competitor in GCC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Nuqta: Rewards-Led Commerce Intelligence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10% cashback on every offline purchase - no credit card, no delays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828800" y="2314575"/>
            <a:ext cx="5486400" cy="18002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B82F6"/>
                </a:solidFill>
              </a:rPr>
              <a:t>🔍 Search: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Find products, compare prices across stores
</a:t>
            </a:r>
            <a:pPr algn="l" indent="0" marL="0">
              <a:buNone/>
            </a:pPr>
            <a:r>
              <a:rPr lang="en-US" sz="1800" b="1" dirty="0">
                <a:solidFill>
                  <a:srgbClr val="A855F7"/>
                </a:solidFill>
              </a:rPr>
              <a:t>💰 Save: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See best deals, offers, and cashback rates
</a:t>
            </a:r>
            <a:pPr algn="l" indent="0" marL="0">
              <a:buNone/>
            </a:pPr>
            <a:r>
              <a:rPr lang="en-US" sz="1800" b="1" dirty="0">
                <a:solidFill>
                  <a:srgbClr val="22C55E"/>
                </a:solidFill>
              </a:rPr>
              <a:t>🎁 Earn: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Get 10% instant cashback on every purchase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USER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The 3-Step Process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Search → Shop → Earn in 60 seconds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PLATFORM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What We Are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Commerce Intelligence + Rewards Infrastructure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MONEY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How Value Flows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User → Merchant → Nuqta ecosystem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REVENUE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5 Revenue Streams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Diversified income from platform activity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UNIT ECONOMICS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18x LTV:CAC Ratio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Industry-leading metrics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CAC BREAKDOWN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Blended AED 30 CAC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75-85% lower than e-commerce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12-MONTH PROJECTIONS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Year 1 Targets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10K users, AED 9M GMV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GTM 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Phased Rollout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Dubai Mall → Dubai → UAE → GCC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TRACTION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Real Momentum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30+ LOIs, 95% MVP, Q1 2026 launch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Experienced Operators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Built by founders with deep GCC expertise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28800" y="771525"/>
            <a:ext cx="54864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</a:rPr>
              <a:t>THE ASK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828800" y="1234440"/>
            <a:ext cx="54864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Raising $500K Pre-Seed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828800" y="1851660"/>
            <a:ext cx="54864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SAFE Note • $6M Cap • 20% Discount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468880"/>
            <a:ext cx="4572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Product Development:  </a:t>
            </a:r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</a:rPr>
              <a:t>$200K (40%)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2726055"/>
            <a:ext cx="4572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User Acquisition:  </a:t>
            </a:r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</a:rPr>
              <a:t>$150K (30%)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2983230"/>
            <a:ext cx="4572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Merchant Onboarding:  </a:t>
            </a:r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</a:rPr>
              <a:t>$75K (15%)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3240405"/>
            <a:ext cx="4572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Operations:  </a:t>
            </a:r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</a:rPr>
              <a:t>$50K (10%)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3497580"/>
            <a:ext cx="4572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Legal &amp; Compliance:  </a:t>
            </a:r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</a:rPr>
              <a:t>$25K (5%)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4114800"/>
            <a:ext cx="45720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18-month runway to Series A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VISION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The Future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Operating system for offline commerce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COMPETITION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No Direct Competitor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Unique combination in GCC market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COMPETITIVE MOATS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4 Defensible Advantages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Network effects + data moats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18-Month Plan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From pilot to Series A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Modern Stack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Built for scale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FAQ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Common Questions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Addressing investor concerns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1543050"/>
            <a:ext cx="64008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Let's Build Together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371600" y="257175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227"/>
                </a:solidFill>
              </a:rPr>
              <a:t>Rejaul Karim • rejaul@nuqtaapp.com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71525"/>
            <a:ext cx="6400800" cy="257175"/>
          </a:xfrm>
          <a:prstGeom prst="rect">
            <a:avLst/>
          </a:prstGeom>
          <a:solidFill>
            <a:srgbClr val="C9A227">
              <a:alpha val="30000"/>
            </a:srgbClr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</a:rPr>
              <a:t>JOIN 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31570"/>
            <a:ext cx="73152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628"/>
                </a:solidFill>
              </a:rPr>
              <a:t>Be Part of Something Big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80022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Ground floor in $150B opportunity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28800" y="1543050"/>
            <a:ext cx="5486400" cy="7715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Thank You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828800" y="24688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227"/>
                </a:solidFill>
              </a:rPr>
              <a:t>Questions?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0" y="3086100"/>
            <a:ext cx="54864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rejaul@nuqtaapp.com  •  nuqtaapp.com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828800" y="3703320"/>
            <a:ext cx="54864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🌟 Raising $500K Pre-Seed  •  Q1 2026 Launch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Nuqta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Nuqta: Rewards-Led Commerce Intelligence Platform</dc:title>
  <dc:subject>Nuqta Investor Pitch Deck - Pre-Seed Round</dc:subject>
  <dc:creator>Rejaul Karim</dc:creator>
  <cp:lastModifiedBy>Rejaul Karim</cp:lastModifiedBy>
  <cp:revision>1</cp:revision>
  <dcterms:created xsi:type="dcterms:W3CDTF">2026-01-28T09:19:06Z</dcterms:created>
  <dcterms:modified xsi:type="dcterms:W3CDTF">2026-01-28T09:19:06Z</dcterms:modified>
</cp:coreProperties>
</file>